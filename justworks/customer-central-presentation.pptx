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371600"/>
            <a:ext cx="73152" cy="201168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Central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Health Dashboard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Strategic Proposal &amp; MVP Scope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3200400" cy="18288"/>
          </a:xfrm>
          <a:prstGeom prst="rect">
            <a:avLst/>
          </a:prstGeom>
          <a:solidFill>
            <a:srgbClr val="263B5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Darrien Watson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Group Product Manager Candidate  ·  Internal Tools &amp; Operations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February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BB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Justworks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63B5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8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Agent's Reality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happens when a CSO agent picks up the phone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640080" cy="384048"/>
          </a:xfrm>
          <a:prstGeom prst="rect">
            <a:avLst/>
          </a:prstGeom>
          <a:solidFill>
            <a:srgbClr val="1B284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344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71600" y="12344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rings. Agent sees a phone number.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09928"/>
            <a:ext cx="640080" cy="384048"/>
          </a:xfrm>
          <a:prstGeom prst="rect">
            <a:avLst/>
          </a:prstGeom>
          <a:solidFill>
            <a:srgbClr val="1B284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70992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T+10s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17099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"Hi, this is Sarah from Acme Corp." Agent types into Salesforce. Waits.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185416"/>
            <a:ext cx="640080" cy="384048"/>
          </a:xfrm>
          <a:prstGeom prst="rect">
            <a:avLst/>
          </a:prstGeom>
          <a:solidFill>
            <a:srgbClr val="263B5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18541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T+25s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0" y="218541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loads. Opens Zendesk in second tab. Searches tickets.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660904"/>
            <a:ext cx="640080" cy="384048"/>
          </a:xfrm>
          <a:prstGeom prst="rect">
            <a:avLst/>
          </a:prstGeom>
          <a:solidFill>
            <a:srgbClr val="263B5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6609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T+45s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266090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3 tickets. Clicks into most recent. Reads through 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136392"/>
            <a:ext cx="640080" cy="384048"/>
          </a:xfrm>
          <a:prstGeom prst="rect">
            <a:avLst/>
          </a:prstGeom>
          <a:solidFill>
            <a:srgbClr val="EF6461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1363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T+60s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71600" y="31363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has been talking for 50 seconds. Agent is half-listening, half-reading.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640080" cy="384048"/>
          </a:xfrm>
          <a:prstGeom prst="rect">
            <a:avLst/>
          </a:prstGeom>
          <a:solidFill>
            <a:srgbClr val="EF6461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6118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T+90s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71600" y="36118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Justworks admin dashboard in a third tab for payroll details.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87368"/>
            <a:ext cx="640080" cy="384048"/>
          </a:xfrm>
          <a:prstGeom prst="rect">
            <a:avLst/>
          </a:prstGeom>
          <a:solidFill>
            <a:srgbClr val="EF6461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408736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T+120s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71600" y="40873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 in. Agent finally has enough context to engage.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1234440"/>
            <a:ext cx="3657600" cy="146304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0" y="1234440"/>
            <a:ext cx="54864" cy="1463040"/>
          </a:xfrm>
          <a:prstGeom prst="rect">
            <a:avLst/>
          </a:prstGeom>
          <a:solidFill>
            <a:srgbClr val="EF6461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0" y="13258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Sarah's experience:</a:t>
            </a:r>
            <a:endParaRPr lang="en-US" sz="10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"I've been explaining this for two minutes and I'm not sure they're even listening."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2926080"/>
            <a:ext cx="3657600" cy="16459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0" y="2926080"/>
            <a:ext cx="54864" cy="1645920"/>
          </a:xfrm>
          <a:prstGeom prst="rect">
            <a:avLst/>
          </a:prstGeom>
          <a:solidFill>
            <a:srgbClr val="3B6FAA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8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5–6 systems per call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03520" y="33832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Zendesk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Justworks Admin Dashboard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Knowledge 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(escalation)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/ Reporting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FEEL THE PAIN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8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Ideal Encounter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D6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 Customer Central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640080" cy="4572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7160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searches Sarah's name. Customer Central populates instantly.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640080" cy="4572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83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T+3s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glance: Acme Corp, PEO Plus, 34 employees, billing current, next payroll Feb 28.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640080" cy="4572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31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T+8s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interaction timeline — Sarah emailed 3 days ago about a payroll discrepancy.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640080" cy="4572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80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T+15s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"Sarah, I see you reached out about the payroll issue — are you calling to follow up?"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640080" cy="4572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429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T+30s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71600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Resolved. One screen. Thirty seconds.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263B5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64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 seconds</a:t>
            </a:r>
            <a:pPr algn="ctr" indent="0" marL="0">
              <a:buNone/>
            </a:pPr>
            <a:r>
              <a:rPr lang="en-US" sz="1400" dirty="0">
                <a:solidFill>
                  <a:srgbClr val="8A95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fumbling  vs.  </a:t>
            </a:r>
            <a:pPr algn="ctr" indent="0" marL="0">
              <a:buNone/>
            </a:pPr>
            <a:r>
              <a:rPr lang="en-US" sz="22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seconds</a:t>
            </a:r>
            <a:pPr algn="ctr" indent="0" marL="0">
              <a:buNone/>
            </a:pPr>
            <a:r>
              <a:rPr lang="en-US" sz="1400" dirty="0">
                <a:solidFill>
                  <a:srgbClr val="8A95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resolution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FEEL THE PAIN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8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Compounding Problems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40480" cy="109728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188720"/>
            <a:ext cx="411480" cy="411480"/>
          </a:xfrm>
          <a:prstGeom prst="rect">
            <a:avLst/>
          </a:prstGeom>
          <a:solidFill>
            <a:srgbClr val="1B284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1612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Context-Switching Tax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5–6 systems per call. 10–15 seconds per switch. 2–3 minutes of dead air per interaction.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840480" cy="109728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188720"/>
            <a:ext cx="411480" cy="411480"/>
          </a:xfrm>
          <a:prstGeom prst="rect">
            <a:avLst/>
          </a:prstGeom>
          <a:solidFill>
            <a:srgbClr val="1B2845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40680" y="11612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Identity Problem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0" y="1508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doesn't know: admin or employee? Which company? Different caller types need different data.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331720"/>
            <a:ext cx="3840480" cy="109728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468880"/>
            <a:ext cx="411480" cy="411480"/>
          </a:xfrm>
          <a:prstGeom prst="rect">
            <a:avLst/>
          </a:prstGeom>
          <a:solidFill>
            <a:srgbClr val="1B284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2441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"Repeat Yourself" Problem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2788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explains issue 3 times to 3 agents. #1 destroyer of the Justworks brand promise.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3840480" cy="109728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468880"/>
            <a:ext cx="411480" cy="411480"/>
          </a:xfrm>
          <a:prstGeom prst="rect">
            <a:avLst/>
          </a:prstGeom>
          <a:solidFill>
            <a:srgbClr val="1B2845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0680" y="2441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Gap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2788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Payroll + benefits + HR + compliance across 50 states. When agents don't know, they escalate — reducing FCR.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611880"/>
            <a:ext cx="3840480" cy="109728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3749040"/>
            <a:ext cx="411480" cy="411480"/>
          </a:xfrm>
          <a:prstGeom prst="rect">
            <a:avLst/>
          </a:prstGeom>
          <a:solidFill>
            <a:srgbClr val="1B2845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37216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Blindspot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34440" y="4069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for proactive insights exists but is never synthesized into agent-facing signals.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3840480" cy="109728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749040"/>
            <a:ext cx="411480" cy="411480"/>
          </a:xfrm>
          <a:prstGeom prst="rect">
            <a:avLst/>
          </a:prstGeom>
          <a:solidFill>
            <a:srgbClr val="1B2845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37216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Threat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4069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10,000+ customers. Tribal knowledge doesn't scale. Quality degrades or headcount grows linearly.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NAME THE PROBLEMS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8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Opportunity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" cy="9144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05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service is Justworks' primary competitive differentiator.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Great people with great tools &gt; great people with fragmented tools.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920240" cy="1280160"/>
          </a:xfrm>
          <a:prstGeom prst="rect">
            <a:avLst/>
          </a:prstGeom>
          <a:solidFill>
            <a:srgbClr val="263B5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Consecutive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Stevie Awards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2286000"/>
            <a:ext cx="1920240" cy="1280160"/>
          </a:xfrm>
          <a:prstGeom prst="rect">
            <a:avLst/>
          </a:prstGeom>
          <a:solidFill>
            <a:srgbClr val="263B5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97480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97480" y="2926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NPS Score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(Industry-Leading)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286000"/>
            <a:ext cx="1920240" cy="1280160"/>
          </a:xfrm>
          <a:prstGeom prst="rect">
            <a:avLst/>
          </a:prstGeom>
          <a:solidFill>
            <a:srgbClr val="263B5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10K+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846320" y="2926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Companies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95160" y="2286000"/>
            <a:ext cx="1920240" cy="1280160"/>
          </a:xfrm>
          <a:prstGeom prst="rect">
            <a:avLst/>
          </a:prstGeom>
          <a:solidFill>
            <a:srgbClr val="263B5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95160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$27B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995160" y="2926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Payroll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Processed (2024)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Justworks scales from 10K to 50K customers, the moat either widens with tooling investment — or erodes without it.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BUSINESS OPPORTUNITY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8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 Got to the MVP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Problems first, features never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828800" cy="219456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1828800" cy="411480"/>
          </a:xfrm>
          <a:prstGeom prst="rect">
            <a:avLst/>
          </a:prstGeom>
          <a:solidFill>
            <a:srgbClr val="1B284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Jobs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distinct jobs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traced to prompt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language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148840"/>
            <a:ext cx="320040" cy="320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651760" y="1280160"/>
            <a:ext cx="1828800" cy="219456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51760" y="1280160"/>
            <a:ext cx="1828800" cy="411480"/>
          </a:xfrm>
          <a:prstGeom prst="rect">
            <a:avLst/>
          </a:prstGeom>
          <a:solidFill>
            <a:srgbClr val="3B6FAA"/>
          </a:solidFill>
          <a:ln/>
        </p:spPr>
      </p:sp>
      <p:sp>
        <p:nvSpPr>
          <p:cNvPr id="13" name="Text 10"/>
          <p:cNvSpPr/>
          <p:nvPr/>
        </p:nvSpPr>
        <p:spPr>
          <a:xfrm>
            <a:off x="265176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788920" y="1828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Problem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788920" y="24688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 CSO problems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 health questions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ICE scored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148840"/>
            <a:ext cx="320040" cy="3200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846320" y="1280160"/>
            <a:ext cx="1828800" cy="219456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46320" y="1280160"/>
            <a:ext cx="182880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9" name="Text 15"/>
          <p:cNvSpPr/>
          <p:nvPr/>
        </p:nvSpPr>
        <p:spPr>
          <a:xfrm>
            <a:off x="484632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983480" y="1828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983480" y="24688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Both lists need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same 6 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foundations</a:t>
            </a:r>
            <a:endParaRPr lang="en-US" sz="9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148840"/>
            <a:ext cx="320040" cy="32004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040880" y="1280160"/>
            <a:ext cx="1828800" cy="219456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040880" y="1280160"/>
            <a:ext cx="1828800" cy="4114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5" name="Text 20"/>
          <p:cNvSpPr/>
          <p:nvPr/>
        </p:nvSpPr>
        <p:spPr>
          <a:xfrm>
            <a:off x="704088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7178040" y="1828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Trust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7178040" y="24688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1: accuracy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2: analysis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3: prediction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548640" y="3840480"/>
            <a:ext cx="8046720" cy="77724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48640" y="3840480"/>
            <a:ext cx="54864" cy="7772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0" name="Text 25"/>
          <p:cNvSpPr/>
          <p:nvPr/>
        </p:nvSpPr>
        <p:spPr>
          <a:xfrm>
            <a:off x="822960" y="38862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Tiebreaker: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features are equal on effort, pick the one that also builds toward the AI-native future. Structured records over free-text. API-first over monolith. Same effort, wildly different future leverage.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SHOW THE LOGIC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8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MVP — 9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840480" cy="320040"/>
          </a:xfrm>
          <a:prstGeom prst="rect">
            <a:avLst/>
          </a:prstGeom>
          <a:solidFill>
            <a:srgbClr val="1B28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STORIES — FULL BUILDS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840480" cy="50292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54864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34440" y="14813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Caller Recognition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17099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Search by name, phone, email. Results &lt;2s.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3840480" cy="50292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057400"/>
            <a:ext cx="54864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574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34440" y="20756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Interaction History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23042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Merged timeline from Zendesk + Salesforce.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2651760"/>
            <a:ext cx="3840480" cy="50292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651760"/>
            <a:ext cx="54864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651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34440" y="26700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Status Strip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34440" y="28986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Billing, payroll date, open tickets at a glance.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3840480" cy="320040"/>
          </a:xfrm>
          <a:prstGeom prst="rect">
            <a:avLst/>
          </a:prstGeom>
          <a:solidFill>
            <a:srgbClr val="263B5E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STORIES — BUILD + DEEP LINKS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417320"/>
            <a:ext cx="3840480" cy="36576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417320"/>
            <a:ext cx="54864" cy="3657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4068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Stub Context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BUILD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754880" y="1874520"/>
            <a:ext cx="3840480" cy="36576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874520"/>
            <a:ext cx="54864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40680" y="1874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Run Status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0" y="1874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754880" y="2331720"/>
            <a:ext cx="3840480" cy="36576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331720"/>
            <a:ext cx="54864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4068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Document Access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98080" y="2331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754880" y="2788920"/>
            <a:ext cx="3840480" cy="36576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2788920"/>
            <a:ext cx="54864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4068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Quick-View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98080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754880" y="3246120"/>
            <a:ext cx="3840480" cy="36576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3246120"/>
            <a:ext cx="54864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5" name="Text 43"/>
          <p:cNvSpPr/>
          <p:nvPr/>
        </p:nvSpPr>
        <p:spPr>
          <a:xfrm>
            <a:off x="493776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4068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Timeline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498080" y="32461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754880" y="3703320"/>
            <a:ext cx="3840480" cy="36576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3703320"/>
            <a:ext cx="54864" cy="3657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0" name="Text 48"/>
          <p:cNvSpPr/>
          <p:nvPr/>
        </p:nvSpPr>
        <p:spPr>
          <a:xfrm>
            <a:off x="4937760" y="3703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Cascade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498080" y="3703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BUILD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54" name="Shape 52"/>
          <p:cNvSpPr/>
          <p:nvPr/>
        </p:nvSpPr>
        <p:spPr>
          <a:xfrm>
            <a:off x="548640" y="4114800"/>
            <a:ext cx="54864" cy="5486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5" name="Text 53"/>
          <p:cNvSpPr/>
          <p:nvPr/>
        </p:nvSpPr>
        <p:spPr>
          <a:xfrm>
            <a:off x="822960" y="41148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links deliver 80% of value at 20% of engineering cost. Phase 2 upgrades: convert deep links to full builds based on usage data.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·  DEFINE THE MVP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8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Wireframe — Information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 agent sees in the first 10 seconds after opening a customer profile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solidFill>
            <a:srgbClr val="1B284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43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company name, admin name, phone, email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863840" y="11430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32004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" y="1691640"/>
            <a:ext cx="54864" cy="13716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CARD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777240" y="20116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Chen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 ·  Acme Corp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sarah@acme.com  ·  (555) 123-4567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contact: 3 days ago (email)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977640" y="1691640"/>
            <a:ext cx="45720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977640" y="1691640"/>
            <a:ext cx="54864" cy="1371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6" name="Text 13"/>
          <p:cNvSpPr/>
          <p:nvPr/>
        </p:nvSpPr>
        <p:spPr>
          <a:xfrm>
            <a:off x="416052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STATUS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4160520" y="2057400"/>
            <a:ext cx="1280160" cy="34747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8" name="Text 15"/>
          <p:cNvSpPr/>
          <p:nvPr/>
        </p:nvSpPr>
        <p:spPr>
          <a:xfrm>
            <a:off x="4160520" y="20574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 Plus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5577840" y="2057400"/>
            <a:ext cx="1280160" cy="34747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0" name="Text 17"/>
          <p:cNvSpPr/>
          <p:nvPr/>
        </p:nvSpPr>
        <p:spPr>
          <a:xfrm>
            <a:off x="5577840" y="20574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employees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6995160" y="2057400"/>
            <a:ext cx="1280160" cy="34747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2" name="Text 19"/>
          <p:cNvSpPr/>
          <p:nvPr/>
        </p:nvSpPr>
        <p:spPr>
          <a:xfrm>
            <a:off x="6995160" y="20574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Billing: Current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160520" y="2514600"/>
            <a:ext cx="1280160" cy="34747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4" name="Text 21"/>
          <p:cNvSpPr/>
          <p:nvPr/>
        </p:nvSpPr>
        <p:spPr>
          <a:xfrm>
            <a:off x="4160520" y="25146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payroll: Feb 28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5577840" y="2514600"/>
            <a:ext cx="1280160" cy="34747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6" name="Text 23"/>
          <p:cNvSpPr/>
          <p:nvPr/>
        </p:nvSpPr>
        <p:spPr>
          <a:xfrm>
            <a:off x="5577840" y="25146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open tickets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818120" y="1737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FS-3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94360" y="3200400"/>
            <a:ext cx="4846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94360" y="3200400"/>
            <a:ext cx="54864" cy="128016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0" name="Text 27"/>
          <p:cNvSpPr/>
          <p:nvPr/>
        </p:nvSpPr>
        <p:spPr>
          <a:xfrm>
            <a:off x="777240" y="3246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TIMELINE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777240" y="3520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9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1463040" y="3520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2057400" y="3520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discrepancy — new hire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4572000" y="3520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777240" y="37947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28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1463040" y="37947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2057400" y="3794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enrollment question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572000" y="37947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777240" y="4069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15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1463040" y="4069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2057400" y="40690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for employee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572000" y="4069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4754880" y="3246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FS-2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5623560" y="3200400"/>
            <a:ext cx="29260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5623560" y="3200400"/>
            <a:ext cx="54864" cy="1280160"/>
          </a:xfrm>
          <a:prstGeom prst="rect">
            <a:avLst/>
          </a:prstGeom>
          <a:solidFill>
            <a:srgbClr val="EF6461"/>
          </a:solidFill>
          <a:ln/>
        </p:spPr>
      </p:sp>
      <p:sp>
        <p:nvSpPr>
          <p:cNvPr id="46" name="Text 43"/>
          <p:cNvSpPr/>
          <p:nvPr/>
        </p:nvSpPr>
        <p:spPr>
          <a:xfrm>
            <a:off x="580644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5806440" y="3520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Pay Stub Context (PS-1)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5806440" y="37490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Payroll Run Status (PS-2)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5806440" y="39776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Benefits Quick-View (PS-4)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5806440" y="4206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Invoice Timeline (PS-5)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52" name="Text 49"/>
          <p:cNvSpPr/>
          <p:nvPr/>
        </p:nvSpPr>
        <p:spPr>
          <a:xfrm>
            <a:off x="54864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Starting point for design discussion with Annelise. Layout reflects information hierarchy: WHO → CONTEXT → HISTORY → ACTIONS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8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Architecture — 5 Sources, 1 API Layer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926080" cy="54864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115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DB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3000" y="1371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Companies, Members, Payroll, Billing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48640" y="1755648"/>
            <a:ext cx="2926080" cy="54864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4708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17739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43000" y="20299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Accounts, Contacts, Cases, Opportunities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548640" y="2414016"/>
            <a:ext cx="2926080" cy="54864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05456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4323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Zendesk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43000" y="268833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Tickets, Users, Satisfaction Ratings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548640" y="3072384"/>
            <a:ext cx="2926080" cy="54864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63824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30906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Logs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1143000" y="334670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Login events, Feature usage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548640" y="3730752"/>
            <a:ext cx="2926080" cy="54864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822192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43000" y="3749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System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1143000" y="40050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Payment status, Invoices</a:t>
            </a:r>
            <a:endParaRPr lang="en-US" sz="8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4760" y="2286000"/>
            <a:ext cx="457200" cy="45720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4480560" y="1097280"/>
            <a:ext cx="2194560" cy="3108960"/>
          </a:xfrm>
          <a:prstGeom prst="rect">
            <a:avLst/>
          </a:prstGeom>
          <a:solidFill>
            <a:srgbClr val="1B284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1325880"/>
            <a:ext cx="457200" cy="4572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480560" y="1828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API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4663440" y="2468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Normalized schema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Cached 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Freshness timestamps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API-first design</a:t>
            </a:r>
            <a:endParaRPr lang="en-US" sz="9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2286000"/>
            <a:ext cx="457200" cy="457200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7498080" y="1371600"/>
            <a:ext cx="1280160" cy="685800"/>
          </a:xfrm>
          <a:prstGeom prst="rect">
            <a:avLst/>
          </a:prstGeom>
          <a:solidFill>
            <a:srgbClr val="06D6A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1"/>
          <p:cNvSpPr/>
          <p:nvPr/>
        </p:nvSpPr>
        <p:spPr>
          <a:xfrm>
            <a:off x="7498080" y="1417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CSO Dashboard</a:t>
            </a:r>
            <a:endParaRPr lang="en-US" sz="850" dirty="0"/>
          </a:p>
        </p:txBody>
      </p:sp>
      <p:sp>
        <p:nvSpPr>
          <p:cNvPr id="32" name="Text 22"/>
          <p:cNvSpPr/>
          <p:nvPr/>
        </p:nvSpPr>
        <p:spPr>
          <a:xfrm>
            <a:off x="7498080" y="17830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00" dirty="0"/>
          </a:p>
        </p:txBody>
      </p:sp>
      <p:sp>
        <p:nvSpPr>
          <p:cNvPr id="33" name="Shape 23"/>
          <p:cNvSpPr/>
          <p:nvPr/>
        </p:nvSpPr>
        <p:spPr>
          <a:xfrm>
            <a:off x="7498080" y="2286000"/>
            <a:ext cx="1280160" cy="68580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24"/>
          <p:cNvSpPr/>
          <p:nvPr/>
        </p:nvSpPr>
        <p:spPr>
          <a:xfrm>
            <a:off x="7498080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Tooling</a:t>
            </a:r>
            <a:endParaRPr lang="en-US" sz="850" dirty="0"/>
          </a:p>
        </p:txBody>
      </p:sp>
      <p:sp>
        <p:nvSpPr>
          <p:cNvPr id="35" name="Text 25"/>
          <p:cNvSpPr/>
          <p:nvPr/>
        </p:nvSpPr>
        <p:spPr>
          <a:xfrm>
            <a:off x="7498080" y="2697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700" dirty="0"/>
          </a:p>
        </p:txBody>
      </p:sp>
      <p:sp>
        <p:nvSpPr>
          <p:cNvPr id="36" name="Shape 26"/>
          <p:cNvSpPr/>
          <p:nvPr/>
        </p:nvSpPr>
        <p:spPr>
          <a:xfrm>
            <a:off x="7498080" y="3200400"/>
            <a:ext cx="1280160" cy="68580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27"/>
          <p:cNvSpPr/>
          <p:nvPr/>
        </p:nvSpPr>
        <p:spPr>
          <a:xfrm>
            <a:off x="7498080" y="3246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RevOps Reporting</a:t>
            </a:r>
            <a:endParaRPr lang="en-US" sz="850" dirty="0"/>
          </a:p>
        </p:txBody>
      </p:sp>
      <p:sp>
        <p:nvSpPr>
          <p:cNvPr id="38" name="Text 28"/>
          <p:cNvSpPr/>
          <p:nvPr/>
        </p:nvSpPr>
        <p:spPr>
          <a:xfrm>
            <a:off x="7498080" y="3611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700" dirty="0"/>
          </a:p>
        </p:txBody>
      </p:sp>
      <p:sp>
        <p:nvSpPr>
          <p:cNvPr id="39" name="Text 29"/>
          <p:cNvSpPr/>
          <p:nvPr/>
        </p:nvSpPr>
        <p:spPr>
          <a:xfrm>
            <a:off x="1828800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EF64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Caroline's domain →</a:t>
            </a:r>
            <a:endParaRPr lang="en-US" sz="700" dirty="0"/>
          </a:p>
        </p:txBody>
      </p:sp>
      <p:sp>
        <p:nvSpPr>
          <p:cNvPr id="40" name="Text 30"/>
          <p:cNvSpPr/>
          <p:nvPr/>
        </p:nvSpPr>
        <p:spPr>
          <a:xfrm>
            <a:off x="4480560" y="36576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EF64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Evan's architecture</a:t>
            </a:r>
            <a:endParaRPr lang="en-US" sz="700" dirty="0"/>
          </a:p>
        </p:txBody>
      </p:sp>
      <p:sp>
        <p:nvSpPr>
          <p:cNvPr id="41" name="Shape 31"/>
          <p:cNvSpPr/>
          <p:nvPr/>
        </p:nvSpPr>
        <p:spPr>
          <a:xfrm>
            <a:off x="548640" y="3931920"/>
            <a:ext cx="8229600" cy="36576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42" name="Shape 32"/>
          <p:cNvSpPr/>
          <p:nvPr/>
        </p:nvSpPr>
        <p:spPr>
          <a:xfrm>
            <a:off x="548640" y="3931920"/>
            <a:ext cx="54864" cy="36576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3" name="Text 33"/>
          <p:cNvSpPr/>
          <p:nvPr/>
        </p:nvSpPr>
        <p:spPr>
          <a:xfrm>
            <a:off x="777240" y="3931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 for Caroline: </a:t>
            </a:r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have a shared key between Salesforce Account IDs and Zendesk Org IDs today, or do we need to build that join?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548640" y="4389120"/>
            <a:ext cx="3931920" cy="32004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45" name="Text 35"/>
          <p:cNvSpPr/>
          <p:nvPr/>
        </p:nvSpPr>
        <p:spPr>
          <a:xfrm>
            <a:off x="68580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ticket: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— verify SFDC Account ID → Zendesk Org ID join for 95%+ accounts</a:t>
            </a:r>
            <a:endParaRPr lang="en-US" sz="800" dirty="0"/>
          </a:p>
        </p:txBody>
      </p:sp>
      <p:sp>
        <p:nvSpPr>
          <p:cNvPr id="46" name="Shape 36"/>
          <p:cNvSpPr/>
          <p:nvPr/>
        </p:nvSpPr>
        <p:spPr>
          <a:xfrm>
            <a:off x="4663440" y="4389120"/>
            <a:ext cx="4114800" cy="32004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47" name="Text 37"/>
          <p:cNvSpPr/>
          <p:nvPr/>
        </p:nvSpPr>
        <p:spPr>
          <a:xfrm>
            <a:off x="4800600" y="4389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cases: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data → freshness badges  |  Zendesk down → cached state  |  Dual admin → profile selector</a:t>
            </a:r>
            <a:endParaRPr lang="en-US" sz="800" dirty="0"/>
          </a:p>
        </p:txBody>
      </p:sp>
      <p:sp>
        <p:nvSpPr>
          <p:cNvPr id="48" name="Text 38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PROVE IT'S BUILDABLE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8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7-Week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005840" cy="365760"/>
          </a:xfrm>
          <a:prstGeom prst="rect">
            <a:avLst/>
          </a:prstGeom>
          <a:solidFill>
            <a:srgbClr val="263B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Shadow agents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 metrics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Validate assumptions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91640" y="1051560"/>
            <a:ext cx="1005840" cy="365760"/>
          </a:xfrm>
          <a:prstGeom prst="rect">
            <a:avLst/>
          </a:prstGeom>
          <a:solidFill>
            <a:srgbClr val="3B6FAA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10515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17373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De-risk integrations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Salesforce join key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Payroll API access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834640" y="1051560"/>
            <a:ext cx="2377440" cy="365760"/>
          </a:xfrm>
          <a:prstGeom prst="rect">
            <a:avLst/>
          </a:prstGeom>
          <a:solidFill>
            <a:srgbClr val="1B2845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1051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2–4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3464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Sprint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1737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Foundation stories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Problem stories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layer + UI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349240" y="1051560"/>
            <a:ext cx="1005840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10515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49240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49240" y="17373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volunteer agents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Daily feedback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Hotjar recording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92240" y="1051560"/>
            <a:ext cx="1005840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0515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17373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pod (20–30)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Structured surveys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Fix critical issues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635240" y="1051560"/>
            <a:ext cx="1005840" cy="3657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10515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35240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35240" y="17373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rollout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Training sessions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Champions program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64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8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3200400"/>
            <a:ext cx="2560320" cy="36576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Backend Engineer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83280" y="3200400"/>
            <a:ext cx="2560320" cy="36576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Frontend Engineer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3200400"/>
            <a:ext cx="2560320" cy="36576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Data Engineer (Data Services)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3657600"/>
            <a:ext cx="2560320" cy="36576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Product Designer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83280" y="3657600"/>
            <a:ext cx="2560320" cy="36576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PM (You)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3657600"/>
            <a:ext cx="2560320" cy="36576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(Shared)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42" name="Shape 40"/>
          <p:cNvSpPr/>
          <p:nvPr/>
        </p:nvSpPr>
        <p:spPr>
          <a:xfrm>
            <a:off x="548640" y="4206240"/>
            <a:ext cx="54864" cy="457200"/>
          </a:xfrm>
          <a:prstGeom prst="rect">
            <a:avLst/>
          </a:prstGeom>
          <a:solidFill>
            <a:srgbClr val="3B6FAA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" y="4206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spikes determine final scope. We adjust based on reality, not assumptions. Stage gates prevent bad rollouts.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4709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ships before Q2 open enrollment season — CSO's highest-volume period.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SHOW THE PLAN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8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Metrics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560320" cy="123444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256032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15–20% 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Handle Time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Less context-switching = faster resolution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2560320" cy="123444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280160"/>
            <a:ext cx="256032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 ↑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Contact Resolution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Better information = fewer escalations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2560320" cy="123444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280160"/>
            <a:ext cx="256032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&gt;80% daily active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508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Adoption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5A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Must replace, not supplement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864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063240"/>
            <a:ext cx="3840480" cy="50292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063240"/>
            <a:ext cx="54864" cy="502920"/>
          </a:xfrm>
          <a:prstGeom prst="rect">
            <a:avLst/>
          </a:prstGeom>
          <a:solidFill>
            <a:srgbClr val="EF6461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063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maintains ≥ +60   |   Data accuracy ≥ 95%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INDICATOR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solidFill>
            <a:srgbClr val="1B2845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1148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Search-to-context time &lt; 5 seconds</a:t>
            </a:r>
            <a:pPr indent="0" marL="0">
              <a:buNone/>
            </a:pPr>
            <a:r>
              <a:rPr lang="en-US" sz="1100" dirty="0">
                <a:solidFill>
                  <a:srgbClr val="8A95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— the moment the agent has what they need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SUCCESS METRICS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8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Don't Know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5156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05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haven't sat with a CSO agent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know the actual top call drivers by volume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7452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1828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know the real data architecture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286000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2240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UX decision in the prototype is an informed assumption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548640" y="2743200"/>
            <a:ext cx="8046720" cy="18288"/>
          </a:xfrm>
          <a:prstGeom prst="rect">
            <a:avLst/>
          </a:prstGeom>
          <a:solidFill>
            <a:srgbClr val="263B5E"/>
          </a:solidFill>
          <a:ln/>
        </p:spPr>
      </p:sp>
      <p:sp>
        <p:nvSpPr>
          <p:cNvPr id="13" name="Text 7"/>
          <p:cNvSpPr/>
          <p:nvPr/>
        </p:nvSpPr>
        <p:spPr>
          <a:xfrm>
            <a:off x="548640" y="2926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Together</a:t>
            </a:r>
            <a:endParaRPr lang="en-US" sz="2400" dirty="0"/>
          </a:p>
        </p:txBody>
      </p:sp>
      <p:sp>
        <p:nvSpPr>
          <p:cNvPr id="14" name="Text 8"/>
          <p:cNvSpPr/>
          <p:nvPr/>
        </p:nvSpPr>
        <p:spPr>
          <a:xfrm>
            <a:off x="54864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minutes. 4 exercises. Each produces a concrete output.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548640" y="3703320"/>
            <a:ext cx="1920240" cy="685800"/>
          </a:xfrm>
          <a:prstGeom prst="rect">
            <a:avLst/>
          </a:prstGeom>
          <a:solidFill>
            <a:srgbClr val="263B5E"/>
          </a:solidFill>
          <a:ln/>
        </p:spPr>
      </p:sp>
      <p:sp>
        <p:nvSpPr>
          <p:cNvPr id="16" name="Text 10"/>
          <p:cNvSpPr/>
          <p:nvPr/>
        </p:nvSpPr>
        <p:spPr>
          <a:xfrm>
            <a:off x="548640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Validate Journey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54864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D6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Confirmed agent workflow map</a:t>
            </a:r>
            <a:endParaRPr lang="en-US" sz="750" dirty="0"/>
          </a:p>
        </p:txBody>
      </p:sp>
      <p:sp>
        <p:nvSpPr>
          <p:cNvPr id="18" name="Shape 12"/>
          <p:cNvSpPr/>
          <p:nvPr/>
        </p:nvSpPr>
        <p:spPr>
          <a:xfrm>
            <a:off x="2697480" y="3703320"/>
            <a:ext cx="1920240" cy="685800"/>
          </a:xfrm>
          <a:prstGeom prst="rect">
            <a:avLst/>
          </a:prstGeom>
          <a:solidFill>
            <a:srgbClr val="263B5E"/>
          </a:solidFill>
          <a:ln/>
        </p:spPr>
      </p:sp>
      <p:sp>
        <p:nvSpPr>
          <p:cNvPr id="19" name="Text 13"/>
          <p:cNvSpPr/>
          <p:nvPr/>
        </p:nvSpPr>
        <p:spPr>
          <a:xfrm>
            <a:off x="2697480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Prioritize Features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269748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D6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Ranked feature list w/ consensus</a:t>
            </a:r>
            <a:endParaRPr lang="en-US" sz="750" dirty="0"/>
          </a:p>
        </p:txBody>
      </p:sp>
      <p:sp>
        <p:nvSpPr>
          <p:cNvPr id="21" name="Shape 15"/>
          <p:cNvSpPr/>
          <p:nvPr/>
        </p:nvSpPr>
        <p:spPr>
          <a:xfrm>
            <a:off x="4846320" y="3703320"/>
            <a:ext cx="1920240" cy="685800"/>
          </a:xfrm>
          <a:prstGeom prst="rect">
            <a:avLst/>
          </a:prstGeom>
          <a:solidFill>
            <a:srgbClr val="263B5E"/>
          </a:solidFill>
          <a:ln/>
        </p:spPr>
      </p:sp>
      <p:sp>
        <p:nvSpPr>
          <p:cNvPr id="22" name="Text 16"/>
          <p:cNvSpPr/>
          <p:nvPr/>
        </p:nvSpPr>
        <p:spPr>
          <a:xfrm>
            <a:off x="4846320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Lock Scope &amp; Sketch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484632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D6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IN / OUT / LATER board</a:t>
            </a:r>
            <a:endParaRPr lang="en-US" sz="750" dirty="0"/>
          </a:p>
        </p:txBody>
      </p:sp>
      <p:sp>
        <p:nvSpPr>
          <p:cNvPr id="24" name="Shape 18"/>
          <p:cNvSpPr/>
          <p:nvPr/>
        </p:nvSpPr>
        <p:spPr>
          <a:xfrm>
            <a:off x="6995160" y="3703320"/>
            <a:ext cx="1920240" cy="685800"/>
          </a:xfrm>
          <a:prstGeom prst="rect">
            <a:avLst/>
          </a:prstGeom>
          <a:solidFill>
            <a:srgbClr val="263B5E"/>
          </a:solidFill>
          <a:ln/>
        </p:spPr>
      </p:sp>
      <p:sp>
        <p:nvSpPr>
          <p:cNvPr id="25" name="Text 19"/>
          <p:cNvSpPr/>
          <p:nvPr/>
        </p:nvSpPr>
        <p:spPr>
          <a:xfrm>
            <a:off x="6995160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Risks &amp; Alignment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99516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D6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Top 3 dependencies + owners</a:t>
            </a:r>
            <a:endParaRPr lang="en-US" sz="750" dirty="0"/>
          </a:p>
        </p:txBody>
      </p:sp>
      <p:sp>
        <p:nvSpPr>
          <p:cNvPr id="27" name="Shape 21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solidFill>
            <a:srgbClr val="263B5E"/>
          </a:solidFill>
          <a:ln/>
        </p:spPr>
      </p:sp>
      <p:sp>
        <p:nvSpPr>
          <p:cNvPr id="28" name="Text 22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workshop question: </a:t>
            </a:r>
            <a:pPr indent="0" marL="0">
              <a:buNone/>
            </a:pPr>
            <a:r>
              <a:rPr lang="en-US" sz="800" i="1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Salesforce already surface that we can embed vs. what needs net-new build?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 ·  INVITE COLLABORATION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63B5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Central — Customer Health Dashboard</dc:title>
  <dc:subject>PptxGenJS Presentation</dc:subject>
  <dc:creator>Darrien Watson</dc:creator>
  <cp:lastModifiedBy>Darrien Watson</cp:lastModifiedBy>
  <cp:revision>1</cp:revision>
  <dcterms:created xsi:type="dcterms:W3CDTF">2026-02-12T20:53:37Z</dcterms:created>
  <dcterms:modified xsi:type="dcterms:W3CDTF">2026-02-12T20:53:37Z</dcterms:modified>
</cp:coreProperties>
</file>